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292608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486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УНИВЕРСИТЕТТІК ПРЕЗЕНТАЦИЯ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503920" y="548640"/>
            <a:ext cx="292608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0" y="5486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КВЕСТ-ПРЕЗЕНТАЦИЯ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45920" y="1463040"/>
            <a:ext cx="8869680" cy="502920"/>
          </a:xfrm>
          <a:prstGeom prst="roundRect">
            <a:avLst>
              <a:gd name="adj" fmla="val 45455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1463040"/>
            <a:ext cx="8869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Алғашқы адам  →  Ежелгі өркениет  →  Индустриалды қала  →  Цифрлық тұлға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FAFC"/>
                </a:solidFill>
              </a:rPr>
              <a:t>АДАМ </a:t>
            </a:r>
            <a:pPr algn="ctr" indent="0" marL="0">
              <a:buNone/>
            </a:pPr>
            <a:r>
              <a:rPr lang="en-US" sz="4000" b="1" dirty="0">
                <a:solidFill>
                  <a:srgbClr val="F59E0B"/>
                </a:solidFill>
              </a:rPr>
              <a:t>→ </a:t>
            </a:r>
            <a:pPr algn="ctr" indent="0" marL="0">
              <a:buNone/>
            </a:pPr>
            <a:r>
              <a:rPr lang="en-US" sz="4000" b="1" dirty="0">
                <a:solidFill>
                  <a:srgbClr val="F8FAFC"/>
                </a:solidFill>
              </a:rPr>
              <a:t>ҚОҒАМ </a:t>
            </a:r>
            <a:pPr algn="ctr" indent="0" marL="0">
              <a:buNone/>
            </a:pPr>
            <a:r>
              <a:rPr lang="en-US" sz="4000" b="1" dirty="0">
                <a:solidFill>
                  <a:srgbClr val="F59E0B"/>
                </a:solidFill>
              </a:rPr>
              <a:t>→ </a:t>
            </a:r>
            <a:pPr algn="ctr" indent="0" marL="0">
              <a:buNone/>
            </a:pPr>
            <a:r>
              <a:rPr lang="en-US" sz="4000" b="1" dirty="0">
                <a:solidFill>
                  <a:srgbClr val="F8FAFC"/>
                </a:solidFill>
              </a:rPr>
              <a:t>ӨРКЕНИЕТ </a:t>
            </a:r>
            <a:pPr algn="ctr" indent="0" marL="0">
              <a:buNone/>
            </a:pPr>
            <a:r>
              <a:rPr lang="en-US" sz="4000" b="1" dirty="0">
                <a:solidFill>
                  <a:srgbClr val="38BDF8"/>
                </a:solidFill>
              </a:rPr>
              <a:t>→ </a:t>
            </a:r>
            <a:pPr algn="ctr" indent="0" marL="0">
              <a:buNone/>
            </a:pPr>
            <a:r>
              <a:rPr lang="en-US" sz="4000" b="1" dirty="0">
                <a:solidFill>
                  <a:srgbClr val="A78BFA"/>
                </a:solidFill>
              </a:rPr>
              <a:t>ТҰЛҒА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371600" y="365760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Адам, қоғам және өркениет эволюциясы. Тұлғаның дүниетанымдық мәдениетін қалыптастыру моделі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011680" y="4846320"/>
            <a:ext cx="8138160" cy="822960"/>
          </a:xfrm>
          <a:prstGeom prst="roundRect">
            <a:avLst>
              <a:gd name="adj" fmla="val 22222"/>
            </a:avLst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0" y="48463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«Бізді кім қалыптастырады: тарих па, қоғам ба, әлде өзіміз бе?»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</a:t>
            </a:r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МӘДЕНИЕТ ЖӘНЕ ӨРКЕНИЕТ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5120640" cy="45720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73736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МӘДЕНИЕТ (Рухани сала)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2468880"/>
            <a:ext cx="43891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F8FAFC"/>
                </a:solidFill>
              </a:rPr>
              <a:t>• Өнер мен эстетика</a:t>
            </a: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F8FAFC"/>
                </a:solidFill>
              </a:rPr>
              <a:t>• Тіл мен философия</a:t>
            </a: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F8FAFC"/>
                </a:solidFill>
              </a:rPr>
              <a:t>• Музыка мен әдебиет</a:t>
            </a: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F8FAFC"/>
                </a:solidFill>
              </a:rPr>
              <a:t>• Білім мен ғылым</a:t>
            </a: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F8FAFC"/>
                </a:solidFill>
              </a:rPr>
              <a:t>• Ұлттық салт-дәстүр мен құндылықтар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463040"/>
            <a:ext cx="5120640" cy="45720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0" y="173736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</a:rPr>
              <a:t>ӨРКЕНИЕТ (Материалдық сала)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675120" y="2468880"/>
            <a:ext cx="43891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F8FAFC"/>
                </a:solidFill>
              </a:rPr>
              <a:t>• Қалалар мен заманауи инфрақұрылым</a:t>
            </a: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F8FAFC"/>
                </a:solidFill>
              </a:rPr>
              <a:t>• Мемлекеттік басқару жүйесі</a:t>
            </a: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F8FAFC"/>
                </a:solidFill>
              </a:rPr>
              <a:t>• Заң, құқық және қоғамдық тәртіп</a:t>
            </a: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F8FAFC"/>
                </a:solidFill>
              </a:rPr>
              <a:t>• Технология, өндіріс және машиналар</a:t>
            </a: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F8FAFC"/>
                </a:solidFill>
              </a:rPr>
              <a:t>• Экономика, сауда және қаржы жүйесі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</a:t>
            </a:r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АДАМЗАТТЫҢ ЭВОЛЮЦИЯ ЖОЛЫ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8961120" y="45720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961120" y="457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Кілт: Когнитивтік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97280" y="3108960"/>
            <a:ext cx="996696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4440" y="2788920"/>
            <a:ext cx="640080" cy="640080"/>
          </a:xfrm>
          <a:prstGeom prst="ellipse">
            <a:avLst/>
          </a:prstGeom>
          <a:solidFill>
            <a:srgbClr val="0F172A"/>
          </a:solidFill>
          <a:ln w="3175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2788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749040"/>
            <a:ext cx="1645920" cy="2011680"/>
          </a:xfrm>
          <a:prstGeom prst="roundRect">
            <a:avLst>
              <a:gd name="adj" fmla="val 833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8862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Когнитивтік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448056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Тіл мен ойлау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17520" y="2788920"/>
            <a:ext cx="640080" cy="640080"/>
          </a:xfrm>
          <a:prstGeom prst="ellipse">
            <a:avLst/>
          </a:prstGeom>
          <a:solidFill>
            <a:srgbClr val="0F172A"/>
          </a:solidFill>
          <a:ln w="3175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0" y="2788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514600" y="3749040"/>
            <a:ext cx="1645920" cy="2011680"/>
          </a:xfrm>
          <a:prstGeom prst="roundRect">
            <a:avLst>
              <a:gd name="adj" fmla="val 833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38862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Неолиттік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60320" y="448056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Егіншілік пен қоныс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2788920"/>
            <a:ext cx="640080" cy="640080"/>
          </a:xfrm>
          <a:prstGeom prst="ellipse">
            <a:avLst/>
          </a:prstGeom>
          <a:solidFill>
            <a:srgbClr val="0F172A"/>
          </a:solidFill>
          <a:ln w="3175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788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297680" y="3749040"/>
            <a:ext cx="1645920" cy="2011680"/>
          </a:xfrm>
          <a:prstGeom prst="roundRect">
            <a:avLst>
              <a:gd name="adj" fmla="val 833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43400" y="38862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</a:rPr>
              <a:t>Аграрлық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343400" y="448056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Мемлекеттер пайда болуы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83680" y="2788920"/>
            <a:ext cx="640080" cy="640080"/>
          </a:xfrm>
          <a:prstGeom prst="ellipse">
            <a:avLst/>
          </a:prstGeom>
          <a:solidFill>
            <a:srgbClr val="0F172A"/>
          </a:solidFill>
          <a:ln w="3175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2788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080760" y="3749040"/>
            <a:ext cx="1645920" cy="2011680"/>
          </a:xfrm>
          <a:prstGeom prst="roundRect">
            <a:avLst>
              <a:gd name="adj" fmla="val 833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38862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Өнеркәсіптік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26480" y="448056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Бу машинасы мен өндіріс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366760" y="2788920"/>
            <a:ext cx="640080" cy="640080"/>
          </a:xfrm>
          <a:prstGeom prst="ellipse">
            <a:avLst/>
          </a:prstGeom>
          <a:solidFill>
            <a:srgbClr val="0F172A"/>
          </a:solidFill>
          <a:ln w="31750">
            <a:solidFill>
              <a:srgbClr val="38BD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66760" y="2788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5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863840" y="3749040"/>
            <a:ext cx="1645920" cy="2011680"/>
          </a:xfrm>
          <a:prstGeom prst="roundRect">
            <a:avLst>
              <a:gd name="adj" fmla="val 833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09560" y="38862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Индустриалды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909560" y="448056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Жаппай өндіріс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0149840" y="2788920"/>
            <a:ext cx="640080" cy="640080"/>
          </a:xfrm>
          <a:prstGeom prst="ellipse">
            <a:avLst/>
          </a:prstGeom>
          <a:solidFill>
            <a:srgbClr val="0F172A"/>
          </a:solidFill>
          <a:ln w="31750">
            <a:solidFill>
              <a:srgbClr val="A78B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149840" y="2788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</a:rPr>
              <a:t>6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646920" y="3749040"/>
            <a:ext cx="1645920" cy="2011680"/>
          </a:xfrm>
          <a:prstGeom prst="roundRect">
            <a:avLst>
              <a:gd name="adj" fmla="val 833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92640" y="38862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FA"/>
                </a:solidFill>
              </a:rPr>
              <a:t>Қазіргі қоғам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692640" y="448056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Цифрлық дәуір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</a:t>
            </a:r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КОГНИТИВТІК РЕВОЛЮЦИЯ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1828800" y="1371600"/>
            <a:ext cx="8503920" cy="73152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137160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ТІЛ  →  ОЙЛАУ  →  БІРЛЕСУ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2468880"/>
            <a:ext cx="2560320" cy="2377440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7432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</a:rPr>
              <a:t>Күрделі тіл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338328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Дерексіз ұғымдар мен ойды білдіру қабілеті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29000" y="2468880"/>
            <a:ext cx="2560320" cy="2377440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27432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Үңгір суреттері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66160" y="338328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Алғашқы визуальды ақпарат, мәдениет пен өнер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2468880"/>
            <a:ext cx="2560320" cy="2377440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27432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7171"/>
                </a:solidFill>
              </a:rPr>
              <a:t>От айналасы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63640" y="338328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Тәжірибе, салт-жора және аңыздарды жеткізу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823960" y="2468880"/>
            <a:ext cx="2560320" cy="2377440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15400" y="27432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</a:rPr>
              <a:t>Үлкен топтар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961120" y="338328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Жүзден аса адамның бірігіп қауым құруы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530352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4A3B8"/>
                </a:solidFill>
              </a:rPr>
              <a:t>«Адам басқа тірі ағзалардан ақпаратпен бөлісу арқылы озып шықты.»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</a:t>
            </a:r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НЕОЛИТТІК РЕВОЛЮЦИЯ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8961120" y="45720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961120" y="457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Кілт: Неолиттік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4846320" cy="3840480"/>
          </a:xfrm>
          <a:prstGeom prst="roundRect">
            <a:avLst>
              <a:gd name="adj" fmla="val 4762"/>
            </a:avLst>
          </a:prstGeom>
          <a:solidFill>
            <a:srgbClr val="0F172A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3736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7171"/>
                </a:solidFill>
              </a:rPr>
              <a:t>АҢШЫ ЖӘНЕ ТЕРІМШІ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256032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F8FAFC"/>
                </a:solidFill>
              </a:rPr>
              <a:t>• Көшпелі өмір салты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F8FAFC"/>
                </a:solidFill>
              </a:rPr>
              <a:t>• Табиғатқа толық тәуелділік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F8FAFC"/>
                </a:solidFill>
              </a:rPr>
              <a:t>• Тұрақты азық-түлік қорының болмауы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60720" y="3017520"/>
            <a:ext cx="640080" cy="731520"/>
          </a:xfrm>
          <a:prstGeom prst="rightArrow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0" y="1463040"/>
            <a:ext cx="4846320" cy="3840480"/>
          </a:xfrm>
          <a:prstGeom prst="roundRect">
            <a:avLst>
              <a:gd name="adj" fmla="val 4762"/>
            </a:avLst>
          </a:prstGeom>
          <a:solidFill>
            <a:srgbClr val="0F172A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0" y="173736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D399"/>
                </a:solidFill>
              </a:rPr>
              <a:t>ДИҚАН ЖӘНЕ ОТЫРЫҚШЫ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040880" y="256032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F8FAFC"/>
                </a:solidFill>
              </a:rPr>
              <a:t>• Егіншілік пен мал шаруашылығы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F8FAFC"/>
                </a:solidFill>
              </a:rPr>
              <a:t>• Тұрақты қоныстар мен үйлер салу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F8FAFC"/>
                </a:solidFill>
              </a:rPr>
              <a:t>• Артық азық-түлік қоры мен сауданың пайда болуы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56692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«Адам табиғатқа бейімделуден оны өзіне ыңғайлап өзгертуге өтті.»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</a:t>
            </a:r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АГРАРЛЫҚ ӨРКЕНИЕТТЕР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2560320" cy="219456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645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Египет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Пирамидалар, монументалды сәулет, мемлекеттік иерархия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29000" y="1463040"/>
            <a:ext cx="2560320" cy="219456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20440" y="1645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</a:rPr>
              <a:t>Месопотамия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520440" y="21945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Шынауи жазу (клинопись), алғашқы заңдар жинағы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463040"/>
            <a:ext cx="2560320" cy="219456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1645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</a:rPr>
              <a:t>Үндістан (Хараппа)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17920" y="21945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Жоспарланған қалалар, су құбыры жүйесі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823960" y="1463040"/>
            <a:ext cx="2560320" cy="219456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15400" y="1645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3F5E"/>
                </a:solidFill>
              </a:rPr>
              <a:t>Қытай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915400" y="21945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Орталықтандырылған империя, Ұлы Қорған құрылысы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931920"/>
            <a:ext cx="10698480" cy="18288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420624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78BFA"/>
                </a:solidFill>
              </a:rPr>
              <a:t>Грекия мен Рим өркениеттері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97280" y="475488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Демократия, азаматтық құқық, философия және қазіргі құқықтық мемлекеттің рухани-заңдық негіздері қаланды.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</a:t>
            </a:r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ӨНЕРКӘСІПТІК РЕВОЛЮЦИЯ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5120640" cy="36576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82880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ДӘСТҮРЛІ КЕЗЕҢ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80160" y="2560320"/>
            <a:ext cx="4023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F8FAFC"/>
                </a:solidFill>
              </a:rPr>
              <a:t>• Ауылдық өмір салты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F8FAFC"/>
                </a:solidFill>
              </a:rPr>
              <a:t>• Ат көлігі мен қарапайым арба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F8FAFC"/>
                </a:solidFill>
              </a:rPr>
              <a:t>• Қол еңбегі мен шеберханалар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F8FAFC"/>
                </a:solidFill>
              </a:rPr>
              <a:t>• Табиғат ырғағымен өмір сүру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463040"/>
            <a:ext cx="5120640" cy="36576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0" y="182880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BDF8"/>
                </a:solidFill>
              </a:rPr>
              <a:t>ИНДУСТРИАЛДЫ ДӘУІР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0" y="2560320"/>
            <a:ext cx="4023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F8FAFC"/>
                </a:solidFill>
              </a:rPr>
              <a:t>• Фабрикалар мен ірі зауыттар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F8FAFC"/>
                </a:solidFill>
              </a:rPr>
              <a:t>• Теміржол, бу пойыздары мен кемелер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F8FAFC"/>
                </a:solidFill>
              </a:rPr>
              <a:t>• Жаппай машиналық өндіріс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F8FAFC"/>
                </a:solidFill>
              </a:rPr>
              <a:t>• Қалалардың күрт өсуі (урбанизация)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548640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</a:rPr>
              <a:t>«Машина тек өндірісті емес, адамның өмір салты мен уақытты қабылдауын өзгертті.»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</a:t>
            </a:r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ЕЖЕЛГІ ҚОҒАМ VS ҚАЗІРГІ ҚОҒАМ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8961120" y="45720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961120" y="457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Кілт: Өркениет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10698480" cy="868680"/>
          </a:xfrm>
          <a:prstGeom prst="roundRect">
            <a:avLst>
              <a:gd name="adj" fmla="val 1578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463040"/>
            <a:ext cx="1645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4A3B8"/>
                </a:solidFill>
              </a:rPr>
              <a:t>Көлік: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834640" y="14630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9E0B"/>
                </a:solidFill>
              </a:rPr>
              <a:t>Ат арба мен жаяу жүру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0" y="1463040"/>
            <a:ext cx="731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↔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223760" y="146304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</a:rPr>
              <a:t>Ұшақ пен электромобиль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2514600"/>
            <a:ext cx="10698480" cy="868680"/>
          </a:xfrm>
          <a:prstGeom prst="roundRect">
            <a:avLst>
              <a:gd name="adj" fmla="val 1578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514600"/>
            <a:ext cx="1645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4A3B8"/>
                </a:solidFill>
              </a:rPr>
              <a:t>Ақпарат: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834640" y="251460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9E0B"/>
                </a:solidFill>
              </a:rPr>
              <a:t>Пергамент хат пен шапқыншы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0" y="2514600"/>
            <a:ext cx="731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↔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23760" y="251460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</a:rPr>
              <a:t>Смартфон, Ғаламтор және ЖИ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3566160"/>
            <a:ext cx="10698480" cy="868680"/>
          </a:xfrm>
          <a:prstGeom prst="roundRect">
            <a:avLst>
              <a:gd name="adj" fmla="val 1578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3566160"/>
            <a:ext cx="1645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4A3B8"/>
                </a:solidFill>
              </a:rPr>
              <a:t>Жарық: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834640" y="356616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9E0B"/>
                </a:solidFill>
              </a:rPr>
              <a:t>Майшам мен ашық от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0" y="3566160"/>
            <a:ext cx="731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↔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223760" y="356616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</a:rPr>
              <a:t>Электр мен жасыл энергия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31520" y="4617720"/>
            <a:ext cx="10698480" cy="868680"/>
          </a:xfrm>
          <a:prstGeom prst="roundRect">
            <a:avLst>
              <a:gd name="adj" fmla="val 1578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617720"/>
            <a:ext cx="1645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4A3B8"/>
                </a:solidFill>
              </a:rPr>
              <a:t>Еңбек: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834640" y="461772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9E0B"/>
                </a:solidFill>
              </a:rPr>
              <a:t>Ауыр қол еңбегі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0" y="4617720"/>
            <a:ext cx="731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↔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223760" y="461772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</a:rPr>
              <a:t>Автоматтандыру мен роботтар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14400" y="585216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4A3B8"/>
                </a:solidFill>
              </a:rPr>
              <a:t>«Қоғам мен технология өзгерген сайын адамның ойлау түйсігі де өзгереді.»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097280"/>
            <a:ext cx="9418320" cy="4754880"/>
          </a:xfrm>
          <a:prstGeom prst="roundRect">
            <a:avLst>
              <a:gd name="adj" fmla="val 5769"/>
            </a:avLst>
          </a:prstGeom>
          <a:solidFill>
            <a:srgbClr val="0F172A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212080" y="1463040"/>
            <a:ext cx="1737360" cy="1737360"/>
          </a:xfrm>
          <a:prstGeom prst="ellipse">
            <a:avLst/>
          </a:prstGeom>
          <a:solidFill>
            <a:srgbClr val="1E293B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212080" y="146304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</a:rPr>
              <a:t>АДАМ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347472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</a:rPr>
              <a:t>Отбасы  •  Білім  •  Қоғам  •  Мемлекет  •  БАҚ / Интернет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828800" y="4114800"/>
            <a:ext cx="8503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«Өркениет пен технология өзгерді.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Ал АДАМНЫҢ ӨЗІ қалай қалыптасады?»</a:t>
            </a:r>
            <a:endParaRPr lang="en-US" sz="2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</a:t>
            </a:r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ТҰЛҒАНЫҢ ҚҰНДЫЛЫҚТАР СЕКТОРЫ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8961120" y="45720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961120" y="457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Кілт: Құндылық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754880" y="2286000"/>
            <a:ext cx="2651760" cy="2011680"/>
          </a:xfrm>
          <a:prstGeom prst="roundRect">
            <a:avLst>
              <a:gd name="adj" fmla="val 11364"/>
            </a:avLst>
          </a:prstGeom>
          <a:solidFill>
            <a:srgbClr val="1E293B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0" y="2286000"/>
            <a:ext cx="26517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ТҰЛҒА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(Ішкі рухани тірек)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97280" y="1645920"/>
            <a:ext cx="3017520" cy="1005840"/>
          </a:xfrm>
          <a:prstGeom prst="roundRect">
            <a:avLst>
              <a:gd name="adj" fmla="val 13636"/>
            </a:avLst>
          </a:prstGeom>
          <a:solidFill>
            <a:srgbClr val="0F172A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64592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Адамгершілік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046720" y="1645920"/>
            <a:ext cx="3017520" cy="1005840"/>
          </a:xfrm>
          <a:prstGeom prst="roundRect">
            <a:avLst>
              <a:gd name="adj" fmla="val 13636"/>
            </a:avLst>
          </a:prstGeom>
          <a:solidFill>
            <a:srgbClr val="0F172A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64592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Әділеттілік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97280" y="3017520"/>
            <a:ext cx="3017520" cy="1005840"/>
          </a:xfrm>
          <a:prstGeom prst="roundRect">
            <a:avLst>
              <a:gd name="adj" fmla="val 13636"/>
            </a:avLst>
          </a:prstGeom>
          <a:solidFill>
            <a:srgbClr val="0F172A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01752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Құрмет пен Ар-ұждан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46720" y="3017520"/>
            <a:ext cx="3017520" cy="1005840"/>
          </a:xfrm>
          <a:prstGeom prst="roundRect">
            <a:avLst>
              <a:gd name="adj" fmla="val 13636"/>
            </a:avLst>
          </a:prstGeom>
          <a:solidFill>
            <a:srgbClr val="0F172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0" y="301752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Жауапкершілік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97280" y="4389120"/>
            <a:ext cx="3017520" cy="1005840"/>
          </a:xfrm>
          <a:prstGeom prst="roundRect">
            <a:avLst>
              <a:gd name="adj" fmla="val 13636"/>
            </a:avLst>
          </a:prstGeom>
          <a:solidFill>
            <a:srgbClr val="0F172A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438912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Еркіндік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46720" y="4389120"/>
            <a:ext cx="3017520" cy="1005840"/>
          </a:xfrm>
          <a:prstGeom prst="roundRect">
            <a:avLst>
              <a:gd name="adj" fmla="val 13636"/>
            </a:avLst>
          </a:prstGeom>
          <a:solidFill>
            <a:srgbClr val="0F172A"/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0" y="438912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Отбасы қадірі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57607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«Құндылықтар — адамның кез келген шешім қабылдауына бағыт беретін ішкі компасы.»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</a:t>
            </a:r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ТҰЛҒАНЫ КІМ ҚАЛЫПТАСТЫРАДЫ?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8961120" y="45720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961120" y="457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Кілттер: Отбасы, Білім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5120640" cy="1234440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00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4899"/>
                </a:solidFill>
              </a:rPr>
              <a:t>1. ОТБАСЫ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19659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Алғашқы тәрбие, эмоционалды қауіпсіздік және базалық құндылықтар негізі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463040"/>
            <a:ext cx="5120640" cy="1234440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600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</a:rPr>
              <a:t>2. БІЛІМ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83680" y="19659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Жүйелі білім, сын тұрғысынан ойлау қабілеті мен кәсіби дағдылар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926080"/>
            <a:ext cx="5120640" cy="1234440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063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</a:rPr>
              <a:t>3. ҚОҒАМ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34290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Әлеуметтік орта, достық, қоғамдық нормалар мен дәстүрлер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2926080"/>
            <a:ext cx="5120640" cy="1234440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3063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4. МЕМЛЕКЕТ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83680" y="34290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Заңдар, азаматтық жауапкершілік және құқықтық мәдениет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4389120"/>
            <a:ext cx="10698480" cy="1280160"/>
          </a:xfrm>
          <a:prstGeom prst="roundRect">
            <a:avLst>
              <a:gd name="adj" fmla="val 10714"/>
            </a:avLst>
          </a:prstGeom>
          <a:solidFill>
            <a:srgbClr val="0F172A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457200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</a:rPr>
              <a:t>5. БАҚ ЖӘНЕ ИНТЕРНЕТ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97280" y="498348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Ақпараттық ағын, медиасауаттылық, әлеуметтік желілер және жаһандық дүниетаным кеңістігі.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</a:t>
            </a:r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ТҰЛҒАНЫҢ ҚАЛЫПТАСУ МОДЕЛІ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1645920" y="1280160"/>
            <a:ext cx="8869680" cy="548640"/>
          </a:xfrm>
          <a:prstGeom prst="roundRect">
            <a:avLst>
              <a:gd name="adj" fmla="val 3333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0" y="1280160"/>
            <a:ext cx="8869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</a:rPr>
              <a:t>Отбасы  +  Білім  +  Қоғам  +  Мемлекет  +  БАҚ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0" y="18745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BDF8"/>
                </a:solidFill>
              </a:rPr>
              <a:t>↓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926080" y="2286000"/>
            <a:ext cx="6309360" cy="777240"/>
          </a:xfrm>
          <a:prstGeom prst="roundRect">
            <a:avLst>
              <a:gd name="adj" fmla="val 23529"/>
            </a:avLst>
          </a:prstGeom>
          <a:solidFill>
            <a:srgbClr val="1E293B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0" y="2286000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ТҰЛҒА (Ішкі Таңдау мен Рефлексия)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0" y="31546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BDF8"/>
                </a:solidFill>
              </a:rPr>
              <a:t>↓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31520" y="3566160"/>
            <a:ext cx="2560320" cy="1920240"/>
          </a:xfrm>
          <a:prstGeom prst="roundRect">
            <a:avLst>
              <a:gd name="adj" fmla="val 7143"/>
            </a:avLst>
          </a:prstGeom>
          <a:solidFill>
            <a:srgbClr val="0F172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794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ДҮНИЕТАНЫМ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43434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Өмірлік көзқарас жүйесі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29000" y="3566160"/>
            <a:ext cx="2560320" cy="1920240"/>
          </a:xfrm>
          <a:prstGeom prst="roundRect">
            <a:avLst>
              <a:gd name="adj" fmla="val 7143"/>
            </a:avLst>
          </a:prstGeom>
          <a:solidFill>
            <a:srgbClr val="0F172A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3794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BDF8"/>
                </a:solidFill>
              </a:rPr>
              <a:t>МОРАЛЬ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20440" y="43434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Жақсылық пен жамандықты айыру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3566160"/>
            <a:ext cx="2560320" cy="1920240"/>
          </a:xfrm>
          <a:prstGeom prst="roundRect">
            <a:avLst>
              <a:gd name="adj" fmla="val 7143"/>
            </a:avLst>
          </a:prstGeom>
          <a:solidFill>
            <a:srgbClr val="0F172A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3794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D399"/>
                </a:solidFill>
              </a:rPr>
              <a:t>ҚҰНДЫЛЫҚ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17920" y="43434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Негізгі рухани тірек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823960" y="3566160"/>
            <a:ext cx="2560320" cy="1920240"/>
          </a:xfrm>
          <a:prstGeom prst="roundRect">
            <a:avLst>
              <a:gd name="adj" fmla="val 7143"/>
            </a:avLst>
          </a:prstGeom>
          <a:solidFill>
            <a:srgbClr val="0F172A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15400" y="3794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78BFA"/>
                </a:solidFill>
              </a:rPr>
              <a:t>МІНЕЗ-ҚҰЛЫҚ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915400" y="43434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Саналы нақты іс-әрекет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57607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«Тұлға сыртқы ортадан әсер алады, бірақ өз таңдауын өзі жасайды.»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</a:t>
            </a:r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• ИНТЕРАКТИВТІ КВЕСТ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749040" y="1371600"/>
            <a:ext cx="4663440" cy="4846320"/>
          </a:xfrm>
          <a:prstGeom prst="roundRect">
            <a:avLst>
              <a:gd name="adj" fmla="val 4902"/>
            </a:avLst>
          </a:prstGeom>
          <a:solidFill>
            <a:srgbClr val="0F172A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89120" y="1645920"/>
            <a:ext cx="3383280" cy="338328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" name="Image 0" descr="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783080"/>
            <a:ext cx="3108960" cy="3108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40480" y="521208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Камераны бағыттап, квест-ойынға өтіңіз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40480" y="56235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Интерактивті веб-платформа &amp; хронология ойыны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University 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Адам → Қоғам → Өркениет → Тұлға</dc:title>
  <dc:subject>PptxGenJS Presentation</dc:subject>
  <dc:creator>Civilization Quest</dc:creator>
  <cp:lastModifiedBy>Civilization Quest</cp:lastModifiedBy>
  <cp:revision>1</cp:revision>
  <dcterms:created xsi:type="dcterms:W3CDTF">2026-09-09T19:45:10Z</dcterms:created>
  <dcterms:modified xsi:type="dcterms:W3CDTF">2026-09-09T19:45:10Z</dcterms:modified>
</cp:coreProperties>
</file>